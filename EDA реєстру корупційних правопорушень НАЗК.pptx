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876" y="108"/>
      </p:cViewPr>
      <p:guideLst>
        <p:guide orient="horz" pos="213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305D6C-BA29-BB9F-2812-DBE33EACE5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DC00ED41-0814-6593-23C3-2980F087B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0B513BB-6DDB-B5C7-DC58-586CDEBAE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16698FC-AE27-579C-BC3F-52E275D5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A95B7B9-7C82-1238-5DE0-B741BCFC0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1470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98FB28-A9B3-8BFC-5D2B-FE9ECB39E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619C592-DF29-41E7-0218-9E03C5E2E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6957359F-F4C7-2396-E23F-52A73B998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79384EA6-9147-AC99-4598-CA659E846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B75D8825-71C0-6FA8-0984-CD6CF042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3422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C9A8F5-4993-B252-C7F8-30FFE9213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9A60F5AC-EE7F-CD4B-A9D4-95964CBBF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A2B0BAA2-CECB-12EB-3061-04618CD1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6AE26EC9-DBC8-829D-F13E-E09BA7C5B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2BAD7F26-D99A-B995-AF67-43C22C740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1478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E4CBE-EB07-B475-421B-7AB1567A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7C66764-BA5F-E2D7-FE45-81B2CC2E5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7A06F89F-8DA4-BB53-6D18-008A17766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4F4C37B1-9B37-BAEA-1422-C6D66CF4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85AF88E1-E3B4-3038-279D-13B02917D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22751B8A-99C5-F2F9-8C7A-B73EDC7A9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50014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7B0951-CECF-AC39-78E3-13C822089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FD7A125-A33A-D1FE-3C6D-F51E486EB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2BABE4DD-5333-4238-9929-527D22E7C5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B70268F5-0BE2-008D-1C9F-806091A0B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D737695D-2DC0-E3D3-06BD-CA017F3FF5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DFF97344-13A6-2501-09C5-10B4CD153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FD35932F-6648-C0F9-D0B9-EA1B047B5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71EFC3F4-B3A6-E2DA-31B9-0387218EE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02000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03B347-E27B-93CB-EE50-174DD31DF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4A72ADC4-A5A3-7F14-EE53-C5BD9E65E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19D47B11-98C7-C1D5-A9B4-D84F5AE7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72F8EDD0-DFDF-B02F-BC02-B801568FF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07361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F11F8FDC-C864-3A73-2C8B-39A32F873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CBDA2656-0E97-7281-A57B-4070ADFD8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9CC1D45F-EFA4-BD79-91A3-09056FE16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43274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D28686-EA82-43B0-0FD7-7A7FB7A96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0E176AF-B187-ECA3-704D-8FE9CD220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CE1A2E5B-E9DE-D7FD-BE5D-67C338D56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D9C3ACF5-7BD8-B035-69E7-F6E1488F1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32B86EE-ECD7-E50A-1515-29F0436B2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16413131-9930-E51E-E8C7-50AEAC912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029703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503749-9364-5697-4099-E48B523FA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3E79C774-8B21-9C3C-3018-2310C27B43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B4611D98-EE9F-07A0-3AA3-E1E90EB152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D3BCC33A-2449-3AF0-01A3-A7462DC59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DD1550D9-4B4D-7B91-B206-B4CCF00A8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5C070988-4E99-2A9D-EC35-41B956D15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70252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5BFC1-A6CE-54F3-BD49-492F523A0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FC723D60-5932-E8D3-451D-6C584D37C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E78AF340-57EA-5B40-C9D2-16A3D3DB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7FF45449-A8BA-1B9E-18B4-25ADC78AA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043A21E-36A8-624A-A2EC-6A266A644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23851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4CE7BEAC-F92D-C995-048C-1579520CC8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D04F44B1-37C4-A2EC-AB0E-AA773BAF6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BDDD9CF3-3CEF-D3A1-E29B-A0886876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BEB35F5-3766-A71D-FACE-EA6618C6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612B922-7F23-96FD-168A-6E6B3FEF8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38979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FE389F13-6977-8995-C129-3D0BB4A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A7E1E082-3BC8-86AC-EC63-E0384BFCA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4EE14DF-346B-389D-1939-45C84AF6A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3137EB92-AAFF-3EA9-893B-C9697A06C2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A4B09E6-6160-9A58-87D5-925585C31C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90389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offpls/Corrupt_Info_Bot/blob/main/eda_corruptinfo.ipynb" TargetMode="External"/><Relationship Id="rId2" Type="http://schemas.openxmlformats.org/officeDocument/2006/relationships/hyperlink" Target="https://t.me/Corrupt_Info_Bot" TargetMode="External"/><Relationship Id="rId1" Type="http://schemas.openxmlformats.org/officeDocument/2006/relationships/slideLayout" Target="../slideLayouts/slideLayout2.xml"/><Relationship Id="rId5" Type="http://schemas.openxmlformats.org/officeDocument/2006/relationships/slide" Target="slide14.xml"/><Relationship Id="rId4" Type="http://schemas.openxmlformats.org/officeDocument/2006/relationships/hyperlink" Target="https://corruptinfo.nazk.gov.ua/ep/swagger/ui/index#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FE3878-1B81-8254-C88E-55D3DD4A4D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943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Аналіз</a:t>
            </a:r>
            <a:r>
              <a:rPr lang="ru-RU" b="1" dirty="0"/>
              <a:t> </a:t>
            </a:r>
            <a:r>
              <a:rPr lang="ru-RU" b="1" dirty="0" err="1"/>
              <a:t>реєстру</a:t>
            </a:r>
            <a:r>
              <a:rPr lang="ru-RU" b="1" dirty="0"/>
              <a:t> </a:t>
            </a:r>
            <a:r>
              <a:rPr lang="ru-RU" b="1" dirty="0" err="1"/>
              <a:t>корупційних</a:t>
            </a:r>
            <a:r>
              <a:rPr lang="ru-RU" b="1" dirty="0"/>
              <a:t> </a:t>
            </a:r>
            <a:r>
              <a:rPr lang="ru-RU" b="1" dirty="0" err="1"/>
              <a:t>правопорушень</a:t>
            </a:r>
            <a:r>
              <a:rPr lang="ru-RU" b="1" dirty="0"/>
              <a:t> НАЗК</a:t>
            </a:r>
            <a:endParaRPr lang="uk-UA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6E156320-B059-5105-1C38-10B8AAB20C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51982"/>
            <a:ext cx="9144000" cy="738981"/>
          </a:xfrm>
        </p:spPr>
        <p:txBody>
          <a:bodyPr/>
          <a:lstStyle/>
          <a:p>
            <a:r>
              <a:rPr lang="en-US" dirty="0"/>
              <a:t>Exploratory Data Analysis</a:t>
            </a:r>
            <a:endParaRPr lang="uk-U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CD2DA-434B-6B67-7C78-5D76799DD0A6}"/>
              </a:ext>
            </a:extLst>
          </p:cNvPr>
          <p:cNvSpPr txBox="1"/>
          <p:nvPr/>
        </p:nvSpPr>
        <p:spPr>
          <a:xfrm>
            <a:off x="6210300" y="5924550"/>
            <a:ext cx="5619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uk-UA" sz="2400" dirty="0"/>
              <a:t>Виконавець: Гудименко Олександр</a:t>
            </a:r>
          </a:p>
        </p:txBody>
      </p:sp>
    </p:spTree>
    <p:extLst>
      <p:ext uri="{BB962C8B-B14F-4D97-AF65-F5344CB8AC3E}">
        <p14:creationId xmlns:p14="http://schemas.microsoft.com/office/powerpoint/2010/main" val="364584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1C518D-F677-FF1A-3C77-98DD206C9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uk-UA" b="1" dirty="0"/>
              <a:t>Корисні посилання</a:t>
            </a:r>
          </a:p>
        </p:txBody>
      </p:sp>
      <p:sp>
        <p:nvSpPr>
          <p:cNvPr id="4" name="Прямокутник: округлені кути 3">
            <a:hlinkClick r:id="rId2"/>
            <a:extLst>
              <a:ext uri="{FF2B5EF4-FFF2-40B4-BE49-F238E27FC236}">
                <a16:creationId xmlns:a16="http://schemas.microsoft.com/office/drawing/2014/main" id="{64F268BB-F19D-271F-FE7F-8EF16A43ACDB}"/>
              </a:ext>
            </a:extLst>
          </p:cNvPr>
          <p:cNvSpPr/>
          <p:nvPr/>
        </p:nvSpPr>
        <p:spPr>
          <a:xfrm>
            <a:off x="3467100" y="1829792"/>
            <a:ext cx="5257800" cy="73501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Bot Telegram</a:t>
            </a:r>
            <a:endParaRPr lang="uk-UA" dirty="0"/>
          </a:p>
        </p:txBody>
      </p:sp>
      <p:sp>
        <p:nvSpPr>
          <p:cNvPr id="5" name="Прямокутник: округлені кути 4">
            <a:hlinkClick r:id="rId3"/>
            <a:extLst>
              <a:ext uri="{FF2B5EF4-FFF2-40B4-BE49-F238E27FC236}">
                <a16:creationId xmlns:a16="http://schemas.microsoft.com/office/drawing/2014/main" id="{74B1228B-1AFD-5060-5F24-C13700B045F4}"/>
              </a:ext>
            </a:extLst>
          </p:cNvPr>
          <p:cNvSpPr/>
          <p:nvPr/>
        </p:nvSpPr>
        <p:spPr>
          <a:xfrm>
            <a:off x="3467100" y="2767806"/>
            <a:ext cx="5257800" cy="725091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dirty="0"/>
              <a:t>Проект на </a:t>
            </a:r>
            <a:r>
              <a:rPr lang="en-US" dirty="0"/>
              <a:t>GIT</a:t>
            </a:r>
            <a:endParaRPr lang="uk-UA" dirty="0"/>
          </a:p>
        </p:txBody>
      </p:sp>
      <p:sp>
        <p:nvSpPr>
          <p:cNvPr id="6" name="Прямокутник: округлені кути 5">
            <a:hlinkClick r:id="rId4"/>
            <a:extLst>
              <a:ext uri="{FF2B5EF4-FFF2-40B4-BE49-F238E27FC236}">
                <a16:creationId xmlns:a16="http://schemas.microsoft.com/office/drawing/2014/main" id="{A0D8BA0D-7332-72F0-FC67-EAE578A39191}"/>
              </a:ext>
            </a:extLst>
          </p:cNvPr>
          <p:cNvSpPr/>
          <p:nvPr/>
        </p:nvSpPr>
        <p:spPr>
          <a:xfrm>
            <a:off x="3467100" y="3695899"/>
            <a:ext cx="5257800" cy="714175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API NAZK</a:t>
            </a:r>
            <a:endParaRPr lang="uk-UA" dirty="0"/>
          </a:p>
        </p:txBody>
      </p:sp>
      <p:sp>
        <p:nvSpPr>
          <p:cNvPr id="7" name="Прямокутник: округлені кути 6">
            <a:hlinkClick r:id="rId3"/>
            <a:extLst>
              <a:ext uri="{FF2B5EF4-FFF2-40B4-BE49-F238E27FC236}">
                <a16:creationId xmlns:a16="http://schemas.microsoft.com/office/drawing/2014/main" id="{5A06E124-5C14-85CF-9DE8-7291898C3B59}"/>
              </a:ext>
            </a:extLst>
          </p:cNvPr>
          <p:cNvSpPr/>
          <p:nvPr/>
        </p:nvSpPr>
        <p:spPr>
          <a:xfrm>
            <a:off x="3467100" y="4613076"/>
            <a:ext cx="5257800" cy="714175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Jupyter</a:t>
            </a:r>
            <a:r>
              <a:rPr lang="en-US" dirty="0"/>
              <a:t> notebook</a:t>
            </a:r>
            <a:endParaRPr lang="uk-UA" dirty="0"/>
          </a:p>
        </p:txBody>
      </p:sp>
      <p:sp>
        <p:nvSpPr>
          <p:cNvPr id="3" name="Прямокутник: округлені кути 2">
            <a:hlinkClick r:id="rId5" action="ppaction://hlinksldjump"/>
            <a:extLst>
              <a:ext uri="{FF2B5EF4-FFF2-40B4-BE49-F238E27FC236}">
                <a16:creationId xmlns:a16="http://schemas.microsoft.com/office/drawing/2014/main" id="{C957C2AD-A84B-DEF6-CD44-88E3A55F95FF}"/>
              </a:ext>
            </a:extLst>
          </p:cNvPr>
          <p:cNvSpPr/>
          <p:nvPr/>
        </p:nvSpPr>
        <p:spPr>
          <a:xfrm>
            <a:off x="6924676" y="1962298"/>
            <a:ext cx="1714500" cy="421581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uk-UA" sz="1100" dirty="0"/>
              <a:t>Результати </a:t>
            </a:r>
            <a:r>
              <a:rPr lang="en-US" sz="1100" dirty="0"/>
              <a:t>AI </a:t>
            </a:r>
            <a:r>
              <a:rPr lang="uk-UA" sz="1100" dirty="0"/>
              <a:t>аналізу</a:t>
            </a:r>
          </a:p>
        </p:txBody>
      </p:sp>
    </p:spTree>
    <p:extLst>
      <p:ext uri="{BB962C8B-B14F-4D97-AF65-F5344CB8AC3E}">
        <p14:creationId xmlns:p14="http://schemas.microsoft.com/office/powerpoint/2010/main" val="975068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C3049A-8D87-C40E-806E-297A24A6A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Мета </a:t>
            </a:r>
            <a:r>
              <a:rPr lang="ru-RU" dirty="0" err="1"/>
              <a:t>роботи</a:t>
            </a:r>
            <a:r>
              <a:rPr lang="ru-RU" dirty="0"/>
              <a:t> та </a:t>
            </a:r>
            <a:r>
              <a:rPr lang="ru-RU" dirty="0" err="1"/>
              <a:t>джерело</a:t>
            </a:r>
            <a:r>
              <a:rPr lang="ru-RU" dirty="0"/>
              <a:t> </a:t>
            </a:r>
            <a:r>
              <a:rPr lang="ru-RU" dirty="0" err="1"/>
              <a:t>даних</a:t>
            </a:r>
            <a:endParaRPr lang="uk-UA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9A1DD35-509E-4E29-60EA-0051C7E92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uk-UA" b="1" dirty="0"/>
              <a:t>Мета: </a:t>
            </a:r>
            <a:r>
              <a:rPr lang="uk-UA" dirty="0"/>
              <a:t>оцінити структуру та якість даних, розподіли за типами покарань, регіонами, часом.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uk-UA" b="1" dirty="0"/>
              <a:t>Джерело: </a:t>
            </a:r>
            <a:r>
              <a:rPr lang="uk-UA" dirty="0" err="1"/>
              <a:t>дамп</a:t>
            </a:r>
            <a:r>
              <a:rPr lang="uk-UA" dirty="0"/>
              <a:t> </a:t>
            </a:r>
            <a:r>
              <a:rPr lang="en-US" dirty="0" err="1"/>
              <a:t>corrupt_all_data.json</a:t>
            </a:r>
            <a:r>
              <a:rPr lang="en-US" dirty="0"/>
              <a:t> (API </a:t>
            </a:r>
            <a:r>
              <a:rPr lang="uk-UA" dirty="0"/>
              <a:t>НАЗК).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uk-UA" b="1" dirty="0"/>
              <a:t>Обсяг: </a:t>
            </a:r>
            <a:r>
              <a:rPr lang="uk-UA" dirty="0"/>
              <a:t>28 713 записів, 29 полів.</a:t>
            </a:r>
          </a:p>
        </p:txBody>
      </p:sp>
    </p:spTree>
    <p:extLst>
      <p:ext uri="{BB962C8B-B14F-4D97-AF65-F5344CB8AC3E}">
        <p14:creationId xmlns:p14="http://schemas.microsoft.com/office/powerpoint/2010/main" val="232619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CCECA-F907-D834-C73B-1E1D0194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Що містить реєстр?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175293B-CE45-D1D9-6847-DF38544B5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uk-UA" dirty="0"/>
              <a:t>ПІБ, тип суб’єкта (</a:t>
            </a:r>
            <a:r>
              <a:rPr lang="uk-UA" dirty="0" err="1"/>
              <a:t>фіз</a:t>
            </a:r>
            <a:r>
              <a:rPr lang="uk-UA" dirty="0"/>
              <a:t>/</a:t>
            </a:r>
            <a:r>
              <a:rPr lang="uk-UA" dirty="0" err="1"/>
              <a:t>юр</a:t>
            </a:r>
            <a:r>
              <a:rPr lang="uk-UA" dirty="0"/>
              <a:t> особа).</a:t>
            </a:r>
          </a:p>
          <a:p>
            <a:r>
              <a:rPr lang="uk-UA" dirty="0"/>
              <a:t>Правопорушення (</a:t>
            </a:r>
            <a:r>
              <a:rPr lang="en-US" dirty="0" err="1"/>
              <a:t>offenseName</a:t>
            </a:r>
            <a:r>
              <a:rPr lang="en-US" dirty="0"/>
              <a:t>, </a:t>
            </a:r>
            <a:r>
              <a:rPr lang="en-US" dirty="0" err="1"/>
              <a:t>offenseId</a:t>
            </a:r>
            <a:r>
              <a:rPr lang="en-US" dirty="0"/>
              <a:t>), </a:t>
            </a:r>
            <a:r>
              <a:rPr lang="uk-UA" dirty="0"/>
              <a:t>статті кодексу.</a:t>
            </a:r>
          </a:p>
          <a:p>
            <a:r>
              <a:rPr lang="uk-UA" dirty="0"/>
              <a:t>Покарання (текст, тип, дати </a:t>
            </a:r>
            <a:r>
              <a:rPr lang="uk-UA" dirty="0" err="1"/>
              <a:t>вироку</a:t>
            </a:r>
            <a:r>
              <a:rPr lang="uk-UA" dirty="0"/>
              <a:t>/постанови).</a:t>
            </a:r>
          </a:p>
          <a:p>
            <a:r>
              <a:rPr lang="uk-UA" dirty="0"/>
              <a:t>Суд (</a:t>
            </a:r>
            <a:r>
              <a:rPr lang="en-US" dirty="0" err="1"/>
              <a:t>courtName</a:t>
            </a:r>
            <a:r>
              <a:rPr lang="en-US" dirty="0"/>
              <a:t>, </a:t>
            </a:r>
            <a:r>
              <a:rPr lang="en-US" dirty="0" err="1"/>
              <a:t>courtId</a:t>
            </a:r>
            <a:r>
              <a:rPr lang="en-US" dirty="0"/>
              <a:t>).</a:t>
            </a:r>
          </a:p>
          <a:p>
            <a:r>
              <a:rPr lang="uk-UA" dirty="0"/>
              <a:t>Постанови НАЗК (</a:t>
            </a:r>
            <a:r>
              <a:rPr lang="en-US" dirty="0" err="1"/>
              <a:t>decreeDate</a:t>
            </a:r>
            <a:r>
              <a:rPr lang="en-US" dirty="0"/>
              <a:t>, </a:t>
            </a:r>
            <a:r>
              <a:rPr lang="en-US" dirty="0" err="1"/>
              <a:t>decreeNumber</a:t>
            </a:r>
            <a:r>
              <a:rPr lang="en-US" dirty="0"/>
              <a:t>).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4179641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D890CA-6A71-C2C5-B47A-872190F76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err="1"/>
              <a:t>Заповненість</a:t>
            </a:r>
            <a:r>
              <a:rPr lang="uk-UA" dirty="0"/>
              <a:t> ключових полів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1A9C682-2A6F-E19E-D50E-0FA87DCAB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8985"/>
            <a:ext cx="722947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uk-UA" sz="2200" dirty="0"/>
              <a:t>Усього записів: 28 713</a:t>
            </a:r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Текст покарання (</a:t>
            </a:r>
            <a:r>
              <a:rPr lang="en-US" sz="2200" dirty="0"/>
              <a:t>punishment): 28</a:t>
            </a:r>
            <a:r>
              <a:rPr lang="uk-UA" sz="2200" dirty="0"/>
              <a:t> </a:t>
            </a:r>
            <a:r>
              <a:rPr lang="en-US" sz="2200" dirty="0"/>
              <a:t>713</a:t>
            </a:r>
            <a:r>
              <a:rPr lang="uk-UA" sz="2200" dirty="0"/>
              <a:t> </a:t>
            </a:r>
            <a:r>
              <a:rPr lang="en-US" sz="2200" dirty="0"/>
              <a:t>(100%)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Назва суду (</a:t>
            </a:r>
            <a:r>
              <a:rPr lang="en-US" sz="2200" dirty="0" err="1"/>
              <a:t>courtName</a:t>
            </a:r>
            <a:r>
              <a:rPr lang="en-US" sz="2200" dirty="0"/>
              <a:t>): 25</a:t>
            </a:r>
            <a:r>
              <a:rPr lang="uk-UA" sz="2200" dirty="0"/>
              <a:t> </a:t>
            </a:r>
            <a:r>
              <a:rPr lang="en-US" sz="2200" dirty="0"/>
              <a:t>767 (89.7%)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Дата </a:t>
            </a:r>
            <a:r>
              <a:rPr lang="uk-UA" sz="2200" dirty="0" err="1"/>
              <a:t>вироку</a:t>
            </a:r>
            <a:r>
              <a:rPr lang="uk-UA" sz="2200" dirty="0"/>
              <a:t> (</a:t>
            </a:r>
            <a:r>
              <a:rPr lang="en-US" sz="2200" dirty="0" err="1"/>
              <a:t>sentenceDate</a:t>
            </a:r>
            <a:r>
              <a:rPr lang="en-US" sz="2200" dirty="0"/>
              <a:t>): 25</a:t>
            </a:r>
            <a:r>
              <a:rPr lang="uk-UA" sz="2200" dirty="0"/>
              <a:t> </a:t>
            </a:r>
            <a:r>
              <a:rPr lang="en-US" sz="2200" dirty="0"/>
              <a:t>769 (89.7%)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Назва правопорушення (</a:t>
            </a:r>
            <a:r>
              <a:rPr lang="en-US" sz="2200" dirty="0" err="1"/>
              <a:t>offenseName</a:t>
            </a:r>
            <a:r>
              <a:rPr lang="en-US" sz="2200" dirty="0"/>
              <a:t>): 28</a:t>
            </a:r>
            <a:r>
              <a:rPr lang="uk-UA" sz="2200" dirty="0"/>
              <a:t> </a:t>
            </a:r>
            <a:r>
              <a:rPr lang="en-US" sz="2200" dirty="0"/>
              <a:t>707 (100%)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ПІБ (</a:t>
            </a:r>
            <a:r>
              <a:rPr lang="en-US" sz="2200" dirty="0" err="1"/>
              <a:t>full_name</a:t>
            </a:r>
            <a:r>
              <a:rPr lang="en-US" sz="2200" dirty="0"/>
              <a:t>): 28</a:t>
            </a:r>
            <a:r>
              <a:rPr lang="uk-UA" sz="2200" dirty="0"/>
              <a:t> </a:t>
            </a:r>
            <a:r>
              <a:rPr lang="en-US" sz="2200" dirty="0"/>
              <a:t>698 (99.9%)</a:t>
            </a:r>
            <a:endParaRPr lang="uk-UA" sz="22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292572-C2C4-AD81-DB63-D83798169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025" y="1688985"/>
            <a:ext cx="3490989" cy="427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787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71C8B6-DA0D-338D-CDB9-2E05A83C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Хто</a:t>
            </a:r>
            <a:r>
              <a:rPr lang="ru-RU" dirty="0"/>
              <a:t> в </a:t>
            </a:r>
            <a:r>
              <a:rPr lang="ru-RU" dirty="0" err="1"/>
              <a:t>реєстрі</a:t>
            </a:r>
            <a:r>
              <a:rPr lang="ru-RU" dirty="0"/>
              <a:t>: </a:t>
            </a:r>
            <a:r>
              <a:rPr lang="ru-RU" dirty="0" err="1"/>
              <a:t>фізичні</a:t>
            </a:r>
            <a:r>
              <a:rPr lang="ru-RU" dirty="0"/>
              <a:t> та </a:t>
            </a:r>
            <a:r>
              <a:rPr lang="ru-RU" dirty="0" err="1"/>
              <a:t>юридичні</a:t>
            </a:r>
            <a:r>
              <a:rPr lang="ru-RU" dirty="0"/>
              <a:t> особи?</a:t>
            </a:r>
            <a:endParaRPr lang="uk-UA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C258A6A-B227-A212-1833-F228CFC4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84" y="1690688"/>
            <a:ext cx="6715666" cy="443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002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C9FCDC-747A-77AD-0E7A-533CB9B90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Розподіл за видами покарання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040EF6E-4778-164E-03AA-7E43D8BD1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90" y="1604385"/>
            <a:ext cx="9900219" cy="488849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040BE9F-5EDF-3E7F-F9B5-B6351B505A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681" y="1604385"/>
            <a:ext cx="5422638" cy="445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29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D7109-26C6-D14E-4E55-BFD9660D6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Найчастіші статті кодексу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08B705-B306-FD93-981D-5846959BD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385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965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1A9976-3BAC-7880-A7F3-793A2B03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Розподіл за регіонами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F53AAD1-B8D6-5B70-A4DD-A9EAC9F35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76460"/>
            <a:ext cx="6201145" cy="511641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25ABCF9-7FBB-F1B1-414B-90AF28D15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345" y="2143775"/>
            <a:ext cx="4408827" cy="358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815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18039B-DC35-47F1-2A96-35A53C777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Динаміка кількості рішень (2010–2026)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35F5B9-70C9-D44E-6573-6FCF559DD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888" y="1510605"/>
            <a:ext cx="8402223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69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FAB1CD-3C3C-0D6D-9C04-F84E4BF1D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Динаміка кількості рішень по роках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E767EB3-95D5-5F24-A2A0-A8F7E40875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9"/>
          <a:stretch/>
        </p:blipFill>
        <p:spPr>
          <a:xfrm>
            <a:off x="966071" y="1943100"/>
            <a:ext cx="10259857" cy="479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5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807277-AFF0-AEA6-2721-2BE25099C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Зв’язок</a:t>
            </a:r>
            <a:r>
              <a:rPr lang="ru-RU" dirty="0"/>
              <a:t> </a:t>
            </a:r>
            <a:r>
              <a:rPr lang="ru-RU" dirty="0" err="1"/>
              <a:t>регіону</a:t>
            </a:r>
            <a:r>
              <a:rPr lang="ru-RU" dirty="0"/>
              <a:t> та виду </a:t>
            </a:r>
            <a:r>
              <a:rPr lang="ru-RU" dirty="0" err="1"/>
              <a:t>покарання</a:t>
            </a:r>
            <a:endParaRPr lang="uk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50648C8-3CBC-71CE-99CB-99C318FF7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075" y="1491195"/>
            <a:ext cx="7549813" cy="5160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717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7B2B9B-837B-354E-7F57-286BFB1B2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Основні висновки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EDA3EC-0CF0-7DBA-EA3A-59D070357954}"/>
              </a:ext>
            </a:extLst>
          </p:cNvPr>
          <p:cNvSpPr txBox="1"/>
          <p:nvPr/>
        </p:nvSpPr>
        <p:spPr>
          <a:xfrm>
            <a:off x="666750" y="1828800"/>
            <a:ext cx="1068705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uk-UA" dirty="0"/>
              <a:t>Реєстр дає значну вибірку для аналізу типів рішень, видів покарань, регіонів і динаміки в часі.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Для </a:t>
            </a:r>
            <a:r>
              <a:rPr lang="ru-RU" dirty="0" err="1"/>
              <a:t>аналізу</a:t>
            </a:r>
            <a:r>
              <a:rPr lang="ru-RU" dirty="0"/>
              <a:t> </a:t>
            </a:r>
            <a:r>
              <a:rPr lang="ru-RU" dirty="0" err="1"/>
              <a:t>покарань</a:t>
            </a:r>
            <a:r>
              <a:rPr lang="ru-RU" dirty="0"/>
              <a:t>, </a:t>
            </a:r>
            <a:r>
              <a:rPr lang="ru-RU" dirty="0" err="1"/>
              <a:t>типів</a:t>
            </a:r>
            <a:r>
              <a:rPr lang="ru-RU" dirty="0"/>
              <a:t> </a:t>
            </a:r>
            <a:r>
              <a:rPr lang="ru-RU" dirty="0" err="1"/>
              <a:t>рішень</a:t>
            </a:r>
            <a:r>
              <a:rPr lang="ru-RU" dirty="0"/>
              <a:t> і </a:t>
            </a:r>
            <a:r>
              <a:rPr lang="ru-RU" dirty="0" err="1"/>
              <a:t>регіонів</a:t>
            </a:r>
            <a:r>
              <a:rPr lang="ru-RU" dirty="0"/>
              <a:t> </a:t>
            </a:r>
            <a:r>
              <a:rPr lang="ru-RU" dirty="0" err="1"/>
              <a:t>якість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 </a:t>
            </a:r>
            <a:r>
              <a:rPr lang="ru-RU" dirty="0" err="1"/>
              <a:t>достатня</a:t>
            </a:r>
            <a:r>
              <a:rPr lang="ru-RU" dirty="0"/>
              <a:t>; для адресного та </a:t>
            </a:r>
            <a:r>
              <a:rPr lang="ru-RU" dirty="0" err="1"/>
              <a:t>організаційного</a:t>
            </a:r>
            <a:r>
              <a:rPr lang="ru-RU" dirty="0"/>
              <a:t> </a:t>
            </a:r>
            <a:r>
              <a:rPr lang="ru-RU" dirty="0" err="1"/>
              <a:t>аналізу</a:t>
            </a:r>
            <a:r>
              <a:rPr lang="ru-RU" dirty="0"/>
              <a:t> </a:t>
            </a:r>
            <a:r>
              <a:rPr lang="ru-RU" dirty="0" err="1"/>
              <a:t>потрібно</a:t>
            </a:r>
            <a:r>
              <a:rPr lang="ru-RU" dirty="0"/>
              <a:t> </a:t>
            </a:r>
            <a:r>
              <a:rPr lang="ru-RU" dirty="0" err="1"/>
              <a:t>враховувати</a:t>
            </a:r>
            <a:r>
              <a:rPr lang="ru-RU" dirty="0"/>
              <a:t> </a:t>
            </a:r>
            <a:r>
              <a:rPr lang="ru-RU" dirty="0" err="1"/>
              <a:t>високий</a:t>
            </a:r>
            <a:r>
              <a:rPr lang="ru-RU" dirty="0"/>
              <a:t> </a:t>
            </a:r>
            <a:r>
              <a:rPr lang="ru-RU" dirty="0" err="1"/>
              <a:t>рівень</a:t>
            </a:r>
            <a:r>
              <a:rPr lang="ru-RU" dirty="0"/>
              <a:t> </a:t>
            </a:r>
            <a:r>
              <a:rPr lang="ru-RU" dirty="0" err="1"/>
              <a:t>пропусків</a:t>
            </a:r>
            <a:r>
              <a:rPr lang="ru-RU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uk-UA" dirty="0"/>
              <a:t>Переважна більшість записів у реєстрі — саме судові рішення; дисциплінарні стягнення становлять меншу, але помітну частку.</a:t>
            </a:r>
          </a:p>
          <a:p>
            <a:pPr marL="342900" indent="-342900">
              <a:buFont typeface="+mj-lt"/>
              <a:buAutoNum type="arabicPeriod"/>
            </a:pPr>
            <a:r>
              <a:rPr lang="uk-UA" dirty="0"/>
              <a:t>В основному покаранням постає тип «Штраф» - 56,5% від загальної </a:t>
            </a:r>
            <a:r>
              <a:rPr lang="uk-UA" dirty="0" err="1"/>
              <a:t>кіллькості</a:t>
            </a:r>
            <a:r>
              <a:rPr lang="uk-UA" dirty="0"/>
              <a:t> </a:t>
            </a:r>
            <a:r>
              <a:rPr lang="uk-UA" dirty="0" err="1"/>
              <a:t>вироків</a:t>
            </a:r>
            <a:endParaRPr lang="uk-UA" dirty="0"/>
          </a:p>
          <a:p>
            <a:pPr marL="342900" indent="-342900" rtl="0">
              <a:buFont typeface="+mj-lt"/>
              <a:buAutoNum type="arabicPeriod"/>
            </a:pPr>
            <a:r>
              <a:rPr lang="uk-UA" dirty="0"/>
              <a:t>Основні статті кодексу: Пропозиція/прийняття, обіцянка або надання неправомірної вигоди службовій особі та Порушення вимог фінансового контролю)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Є </a:t>
            </a:r>
            <a:r>
              <a:rPr lang="ru-RU" dirty="0" err="1"/>
              <a:t>регіональна</a:t>
            </a:r>
            <a:r>
              <a:rPr lang="ru-RU" dirty="0"/>
              <a:t> </a:t>
            </a:r>
            <a:r>
              <a:rPr lang="ru-RU" dirty="0" err="1"/>
              <a:t>нерівномірність</a:t>
            </a:r>
            <a:r>
              <a:rPr lang="ru-RU" dirty="0"/>
              <a:t>: </a:t>
            </a:r>
            <a:r>
              <a:rPr lang="ru-RU" dirty="0" err="1"/>
              <a:t>частина</a:t>
            </a:r>
            <a:r>
              <a:rPr lang="ru-RU" dirty="0"/>
              <a:t> областей </a:t>
            </a:r>
            <a:r>
              <a:rPr lang="ru-RU" dirty="0" err="1"/>
              <a:t>має</a:t>
            </a:r>
            <a:r>
              <a:rPr lang="ru-RU" dirty="0"/>
              <a:t> </a:t>
            </a:r>
            <a:r>
              <a:rPr lang="ru-RU" dirty="0" err="1"/>
              <a:t>значно</a:t>
            </a:r>
            <a:r>
              <a:rPr lang="ru-RU" dirty="0"/>
              <a:t> </a:t>
            </a:r>
            <a:r>
              <a:rPr lang="ru-RU" dirty="0" err="1"/>
              <a:t>більше</a:t>
            </a:r>
            <a:r>
              <a:rPr lang="ru-RU" dirty="0"/>
              <a:t> </a:t>
            </a:r>
            <a:r>
              <a:rPr lang="ru-RU" dirty="0" err="1"/>
              <a:t>записів</a:t>
            </a:r>
            <a:r>
              <a:rPr lang="ru-RU" dirty="0"/>
              <a:t>. Теплова карта також </a:t>
            </a:r>
            <a:r>
              <a:rPr lang="ru-RU" dirty="0" err="1"/>
              <a:t>покарання</a:t>
            </a:r>
            <a:r>
              <a:rPr lang="ru-RU" dirty="0"/>
              <a:t> </a:t>
            </a:r>
            <a:r>
              <a:rPr lang="ru-RU" dirty="0" err="1"/>
              <a:t>показує</a:t>
            </a:r>
            <a:r>
              <a:rPr lang="ru-RU" dirty="0"/>
              <a:t>, де </a:t>
            </a:r>
            <a:r>
              <a:rPr lang="ru-RU" dirty="0" err="1"/>
              <a:t>переважають</a:t>
            </a:r>
            <a:r>
              <a:rPr lang="ru-RU" dirty="0"/>
              <a:t> </a:t>
            </a:r>
            <a:r>
              <a:rPr lang="ru-RU" dirty="0" err="1"/>
              <a:t>певні</a:t>
            </a:r>
            <a:r>
              <a:rPr lang="ru-RU" dirty="0"/>
              <a:t> </a:t>
            </a:r>
            <a:r>
              <a:rPr lang="ru-RU" dirty="0" err="1"/>
              <a:t>види</a:t>
            </a:r>
            <a:r>
              <a:rPr lang="ru-RU" dirty="0"/>
              <a:t> </a:t>
            </a:r>
            <a:r>
              <a:rPr lang="ru-RU" dirty="0" err="1"/>
              <a:t>санкцій</a:t>
            </a:r>
            <a:r>
              <a:rPr lang="ru-RU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За роками видно </a:t>
            </a:r>
            <a:r>
              <a:rPr lang="ru-RU" dirty="0" err="1"/>
              <a:t>зростання</a:t>
            </a:r>
            <a:r>
              <a:rPr lang="ru-RU" dirty="0"/>
              <a:t> </a:t>
            </a:r>
            <a:r>
              <a:rPr lang="ru-RU" dirty="0" err="1"/>
              <a:t>або</a:t>
            </a:r>
            <a:r>
              <a:rPr lang="ru-RU" dirty="0"/>
              <a:t> </a:t>
            </a:r>
            <a:r>
              <a:rPr lang="ru-RU" dirty="0" err="1"/>
              <a:t>зниження</a:t>
            </a:r>
            <a:r>
              <a:rPr lang="ru-RU" dirty="0"/>
              <a:t> </a:t>
            </a:r>
            <a:r>
              <a:rPr lang="ru-RU" dirty="0" err="1"/>
              <a:t>кількості</a:t>
            </a:r>
            <a:r>
              <a:rPr lang="ru-RU" dirty="0"/>
              <a:t> </a:t>
            </a:r>
            <a:r>
              <a:rPr lang="ru-RU" dirty="0" err="1"/>
              <a:t>рішень</a:t>
            </a:r>
            <a:r>
              <a:rPr lang="ru-RU" dirty="0"/>
              <a:t>; </a:t>
            </a:r>
            <a:r>
              <a:rPr lang="ru-RU" dirty="0" err="1"/>
              <a:t>це</a:t>
            </a:r>
            <a:r>
              <a:rPr lang="ru-RU" dirty="0"/>
              <a:t> </a:t>
            </a:r>
            <a:r>
              <a:rPr lang="ru-RU" dirty="0" err="1"/>
              <a:t>можна</a:t>
            </a:r>
            <a:r>
              <a:rPr lang="ru-RU" dirty="0"/>
              <a:t> </a:t>
            </a:r>
            <a:r>
              <a:rPr lang="ru-RU" dirty="0" err="1"/>
              <a:t>пов’язати</a:t>
            </a:r>
            <a:r>
              <a:rPr lang="ru-RU" dirty="0"/>
              <a:t> з </a:t>
            </a:r>
            <a:r>
              <a:rPr lang="ru-RU" dirty="0" err="1"/>
              <a:t>зміною</a:t>
            </a:r>
            <a:r>
              <a:rPr lang="ru-RU" dirty="0"/>
              <a:t> </a:t>
            </a:r>
            <a:r>
              <a:rPr lang="ru-RU" dirty="0" err="1"/>
              <a:t>законодавства</a:t>
            </a:r>
            <a:r>
              <a:rPr lang="ru-RU" dirty="0"/>
              <a:t>, практики НАЗК та </a:t>
            </a:r>
            <a:r>
              <a:rPr lang="ru-RU" dirty="0" err="1"/>
              <a:t>судів</a:t>
            </a:r>
            <a:r>
              <a:rPr lang="ru-RU" dirty="0"/>
              <a:t>, </a:t>
            </a:r>
            <a:r>
              <a:rPr lang="ru-RU" dirty="0" err="1"/>
              <a:t>або</a:t>
            </a:r>
            <a:r>
              <a:rPr lang="ru-RU" dirty="0"/>
              <a:t> </a:t>
            </a:r>
            <a:r>
              <a:rPr lang="ru-RU" dirty="0" err="1"/>
              <a:t>зміною</a:t>
            </a:r>
            <a:r>
              <a:rPr lang="ru-RU" dirty="0"/>
              <a:t> </a:t>
            </a:r>
            <a:r>
              <a:rPr lang="ru-RU" dirty="0" err="1"/>
              <a:t>повноти</a:t>
            </a:r>
            <a:r>
              <a:rPr lang="ru-RU" dirty="0"/>
              <a:t> </a:t>
            </a:r>
            <a:r>
              <a:rPr lang="ru-RU" dirty="0" err="1"/>
              <a:t>реєстру</a:t>
            </a:r>
            <a:r>
              <a:rPr lang="ru-RU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 err="1"/>
              <a:t>Можна</a:t>
            </a:r>
            <a:r>
              <a:rPr lang="ru-RU" dirty="0"/>
              <a:t> </a:t>
            </a:r>
            <a:r>
              <a:rPr lang="ru-RU" dirty="0" err="1"/>
              <a:t>формулювати</a:t>
            </a:r>
            <a:r>
              <a:rPr lang="ru-RU" dirty="0"/>
              <a:t> </a:t>
            </a:r>
            <a:r>
              <a:rPr lang="ru-RU" dirty="0" err="1"/>
              <a:t>регіональні</a:t>
            </a:r>
            <a:r>
              <a:rPr lang="ru-RU" dirty="0"/>
              <a:t> </a:t>
            </a:r>
            <a:r>
              <a:rPr lang="ru-RU" dirty="0" err="1"/>
              <a:t>особливості</a:t>
            </a:r>
            <a:r>
              <a:rPr lang="ru-RU" dirty="0"/>
              <a:t> </a:t>
            </a:r>
            <a:r>
              <a:rPr lang="ru-RU" dirty="0" err="1"/>
              <a:t>застосування</a:t>
            </a:r>
            <a:r>
              <a:rPr lang="ru-RU" dirty="0"/>
              <a:t> </a:t>
            </a:r>
            <a:r>
              <a:rPr lang="ru-RU" dirty="0" err="1"/>
              <a:t>покарань</a:t>
            </a:r>
            <a:r>
              <a:rPr lang="ru-RU" dirty="0"/>
              <a:t> (</a:t>
            </a:r>
            <a:r>
              <a:rPr lang="ru-RU" dirty="0" err="1"/>
              <a:t>наприклад</a:t>
            </a:r>
            <a:r>
              <a:rPr lang="ru-RU" dirty="0"/>
              <a:t>, </a:t>
            </a:r>
            <a:r>
              <a:rPr lang="ru-RU" dirty="0" err="1"/>
              <a:t>більша</a:t>
            </a:r>
            <a:r>
              <a:rPr lang="ru-RU" dirty="0"/>
              <a:t> </a:t>
            </a:r>
            <a:r>
              <a:rPr lang="ru-RU" dirty="0" err="1"/>
              <a:t>частка</a:t>
            </a:r>
            <a:r>
              <a:rPr lang="ru-RU" dirty="0"/>
              <a:t> </a:t>
            </a:r>
            <a:r>
              <a:rPr lang="ru-RU" dirty="0" err="1"/>
              <a:t>штрафів</a:t>
            </a:r>
            <a:r>
              <a:rPr lang="ru-RU" dirty="0"/>
              <a:t> </a:t>
            </a:r>
            <a:r>
              <a:rPr lang="ru-RU" dirty="0" err="1"/>
              <a:t>або</a:t>
            </a:r>
            <a:r>
              <a:rPr lang="ru-RU" dirty="0"/>
              <a:t> </a:t>
            </a:r>
            <a:r>
              <a:rPr lang="ru-RU" dirty="0" err="1"/>
              <a:t>доган</a:t>
            </a:r>
            <a:r>
              <a:rPr lang="ru-RU" dirty="0"/>
              <a:t> у </a:t>
            </a:r>
            <a:r>
              <a:rPr lang="ru-RU" dirty="0" err="1"/>
              <a:t>окремих</a:t>
            </a:r>
            <a:r>
              <a:rPr lang="ru-RU" dirty="0"/>
              <a:t> областях).</a:t>
            </a:r>
          </a:p>
          <a:p>
            <a:endParaRPr lang="uk-UA" dirty="0"/>
          </a:p>
          <a:p>
            <a:pPr rtl="0"/>
            <a:endParaRPr lang="uk-UA" dirty="0"/>
          </a:p>
          <a:p>
            <a:pPr marL="342900" indent="-342900">
              <a:buFont typeface="+mj-lt"/>
              <a:buAutoNum type="arabicPeriod"/>
            </a:pPr>
            <a:endParaRPr lang="uk-UA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uk-UA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ru-RU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uk-UA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91380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48C00A-9817-851A-165B-375EB6898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73" y="223511"/>
            <a:ext cx="3657927" cy="2505531"/>
          </a:xfrm>
          <a:prstGeom prst="rect">
            <a:avLst/>
          </a:prstGeom>
          <a:ln>
            <a:noFill/>
          </a:ln>
          <a:effectLst>
            <a:glow rad="139700">
              <a:srgbClr val="FF0000">
                <a:alpha val="40000"/>
              </a:srgbClr>
            </a:glo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CB16F7-CCAB-5D96-D6FC-0B6F274AA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747" y="186252"/>
            <a:ext cx="3610040" cy="2505531"/>
          </a:xfrm>
          <a:prstGeom prst="rect">
            <a:avLst/>
          </a:prstGeom>
          <a:ln>
            <a:noFill/>
          </a:ln>
          <a:effectLst>
            <a:glow rad="139700">
              <a:srgbClr val="FF0000">
                <a:alpha val="40000"/>
              </a:srgbClr>
            </a:glo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5E1D65A-ACE9-14F4-FF8C-73D6E650B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698" y="2961826"/>
            <a:ext cx="4022038" cy="2505531"/>
          </a:xfrm>
          <a:prstGeom prst="rect">
            <a:avLst/>
          </a:prstGeom>
          <a:effectLst>
            <a:glow rad="101600">
              <a:srgbClr val="FFC000">
                <a:alpha val="60000"/>
              </a:srgbClr>
            </a:glo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54AFDDC-A0CE-3BAB-C5FC-E8219A34B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9334" y="186252"/>
            <a:ext cx="4165025" cy="2453021"/>
          </a:xfrm>
          <a:prstGeom prst="rect">
            <a:avLst/>
          </a:prstGeom>
          <a:effectLst>
            <a:glow rad="101600">
              <a:srgbClr val="FFC000">
                <a:alpha val="60000"/>
              </a:srgbClr>
            </a:glow>
          </a:effectLst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6AF3811-F84D-2923-3A4B-C669EB4089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0450" y="2999083"/>
            <a:ext cx="4165026" cy="2431015"/>
          </a:xfrm>
          <a:prstGeom prst="rect">
            <a:avLst/>
          </a:prstGeom>
          <a:ln>
            <a:noFill/>
          </a:ln>
          <a:effectLst>
            <a:glow rad="139700">
              <a:srgbClr val="FF0000">
                <a:alpha val="40000"/>
              </a:srgbClr>
            </a:glow>
          </a:effectLst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2C3DC1F-280E-25F9-F994-D00B3C3C2D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9334" y="5329722"/>
            <a:ext cx="4084066" cy="1342026"/>
          </a:xfrm>
          <a:prstGeom prst="rect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2" name="Стрілка: вліво 1">
            <a:hlinkClick r:id="rId8" action="ppaction://hlinksldjump"/>
            <a:extLst>
              <a:ext uri="{FF2B5EF4-FFF2-40B4-BE49-F238E27FC236}">
                <a16:creationId xmlns:a16="http://schemas.microsoft.com/office/drawing/2014/main" id="{5CEB9217-47C5-4F33-75C6-FDEA98CE45DD}"/>
              </a:ext>
            </a:extLst>
          </p:cNvPr>
          <p:cNvSpPr/>
          <p:nvPr/>
        </p:nvSpPr>
        <p:spPr>
          <a:xfrm>
            <a:off x="258092" y="6010275"/>
            <a:ext cx="1952625" cy="661473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dirty="0"/>
              <a:t>Повернутись</a:t>
            </a:r>
          </a:p>
        </p:txBody>
      </p:sp>
    </p:spTree>
    <p:extLst>
      <p:ext uri="{BB962C8B-B14F-4D97-AF65-F5344CB8AC3E}">
        <p14:creationId xmlns:p14="http://schemas.microsoft.com/office/powerpoint/2010/main" val="32872724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378</Words>
  <Application>Microsoft Office PowerPoint</Application>
  <PresentationFormat>Широкий екран</PresentationFormat>
  <Paragraphs>55</Paragraphs>
  <Slides>14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Тема Office</vt:lpstr>
      <vt:lpstr>Аналіз реєстру корупційних правопорушень НАЗК</vt:lpstr>
      <vt:lpstr>Корисні посилання</vt:lpstr>
      <vt:lpstr>Мета роботи та джерело даних</vt:lpstr>
      <vt:lpstr>Що містить реєстр?</vt:lpstr>
      <vt:lpstr>Заповненість ключових полів</vt:lpstr>
      <vt:lpstr>Хто в реєстрі: фізичні та юридичні особи?</vt:lpstr>
      <vt:lpstr>Розподіл за видами покарання</vt:lpstr>
      <vt:lpstr>Найчастіші статті кодексу</vt:lpstr>
      <vt:lpstr>Розподіл за регіонами</vt:lpstr>
      <vt:lpstr>Динаміка кількості рішень (2010–2026)</vt:lpstr>
      <vt:lpstr>Динаміка кількості рішень по роках</vt:lpstr>
      <vt:lpstr>Зв’язок регіону та виду покарання</vt:lpstr>
      <vt:lpstr>Основні висновки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Олександр Гудименко</dc:creator>
  <cp:lastModifiedBy>Олександр Гудименко</cp:lastModifiedBy>
  <cp:revision>8</cp:revision>
  <dcterms:created xsi:type="dcterms:W3CDTF">2026-03-14T00:02:24Z</dcterms:created>
  <dcterms:modified xsi:type="dcterms:W3CDTF">2026-03-14T04:30:59Z</dcterms:modified>
</cp:coreProperties>
</file>