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05D6C-BA29-BB9F-2812-DBE33EACE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C00ED41-0814-6593-23C3-2980F087B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0B513BB-6DDB-B5C7-DC58-586CDEBA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6698FC-AE27-579C-BC3F-52E275D5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A95B7B9-7C82-1238-5DE0-B741BCFC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47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8FB28-A9B3-8BFC-5D2B-FE9ECB39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619C592-DF29-41E7-0218-9E03C5E2E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957359F-F4C7-2396-E23F-52A73B99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9384EA6-9147-AC99-4598-CA659E84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5D8825-71C0-6FA8-0984-CD6CF042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342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9A8F5-4993-B252-C7F8-30FFE921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A60F5AC-EE7F-CD4B-A9D4-95964CBBF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2B0BAA2-CECB-12EB-3061-04618CD1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E26EC9-DBC8-829D-F13E-E09BA7C5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AD7F26-D99A-B995-AF67-43C22C74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147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E4CBE-EB07-B475-421B-7AB1567A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C66764-BA5F-E2D7-FE45-81B2CC2E5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A06F89F-8DA4-BB53-6D18-008A17766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F4C37B1-9B37-BAEA-1422-C6D66CF4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5AF88E1-E3B4-3038-279D-13B02917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2751B8A-99C5-F2F9-8C7A-B73EDC7A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001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7B0951-CECF-AC39-78E3-13C822089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D7A125-A33A-D1FE-3C6D-F51E486EB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BABE4DD-5333-4238-9929-527D22E7C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70268F5-0BE2-008D-1C9F-806091A0B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737695D-2DC0-E3D3-06BD-CA017F3FF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FF97344-13A6-2501-09C5-10B4CD15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D35932F-6648-C0F9-D0B9-EA1B047B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1EFC3F4-B3A6-E2DA-31B9-0387218E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200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3B347-E27B-93CB-EE50-174DD31D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A72ADC4-A5A3-7F14-EE53-C5BD9E65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9D47B11-98C7-C1D5-A9B4-D84F5AE7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2F8EDD0-DFDF-B02F-BC02-B801568F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736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11F8FDC-C864-3A73-2C8B-39A32F87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BDA2656-0E97-7281-A57B-4070ADFD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CC1D45F-EFA4-BD79-91A3-09056FE1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27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28686-EA82-43B0-0FD7-7A7FB7A9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0E176AF-B187-ECA3-704D-8FE9CD22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E1A2E5B-E9DE-D7FD-BE5D-67C338D56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9C3ACF5-7BD8-B035-69E7-F6E1488F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32B86EE-ECD7-E50A-1515-29F0436B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6413131-9930-E51E-E8C7-50AEAC91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970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03749-9364-5697-4099-E48B523F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E79C774-8B21-9C3C-3018-2310C27B4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4611D98-EE9F-07A0-3AA3-E1E90EB15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3BCC33A-2449-3AF0-01A3-A7462DC5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D1550D9-4B4D-7B91-B206-B4CCF00A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C070988-4E99-2A9D-EC35-41B956D1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025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5BFC1-A6CE-54F3-BD49-492F523A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C723D60-5932-E8D3-451D-6C584D37C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78AF340-57EA-5B40-C9D2-16A3D3DB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FF45449-A8BA-1B9E-18B4-25ADC78A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043A21E-36A8-624A-A2EC-6A266A64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385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CE7BEAC-F92D-C995-048C-1579520CC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04F44B1-37C4-A2EC-AB0E-AA773BAF6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DD9CF3-3CEF-D3A1-E29B-A0886876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EB35F5-3766-A71D-FACE-EA6618C6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12B922-7F23-96FD-168A-6E6B3FEF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897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E389F13-6977-8995-C129-3D0BB4AD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E1E082-3BC8-86AC-EC63-E0384BFCA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4EE14DF-346B-389D-1939-45C84AF6A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FDE0B-FD79-44AB-9E4A-BC7719184014}" type="datetimeFigureOut">
              <a:rPr lang="uk-UA" smtClean="0"/>
              <a:t>14.03.2026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37EB92-AAFF-3EA9-893B-C9697A06C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A4B09E6-6160-9A58-87D5-925585C31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4E6B6-B925-422A-B265-FC08C7A223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03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ffpls/Corrupt_Info_Bot/blob/main/eda_corruptinfo.ipynb" TargetMode="External"/><Relationship Id="rId2" Type="http://schemas.openxmlformats.org/officeDocument/2006/relationships/hyperlink" Target="https://t.me/Corrupt_Info_Bot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hyperlink" Target="https://corruptinfo.nazk.gov.ua/ep/swagger/ui/index#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E3878-1B81-8254-C88E-55D3DD4A4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94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Аналіз</a:t>
            </a:r>
            <a:r>
              <a:rPr lang="ru-RU" b="1" dirty="0"/>
              <a:t> </a:t>
            </a:r>
            <a:r>
              <a:rPr lang="ru-RU" b="1" dirty="0" err="1"/>
              <a:t>реєстру</a:t>
            </a:r>
            <a:r>
              <a:rPr lang="ru-RU" b="1" dirty="0"/>
              <a:t> </a:t>
            </a:r>
            <a:r>
              <a:rPr lang="ru-RU" b="1" dirty="0" err="1"/>
              <a:t>корупційних</a:t>
            </a:r>
            <a:r>
              <a:rPr lang="ru-RU" b="1" dirty="0"/>
              <a:t> </a:t>
            </a:r>
            <a:r>
              <a:rPr lang="ru-RU" b="1" dirty="0" err="1"/>
              <a:t>правопорушень</a:t>
            </a:r>
            <a:r>
              <a:rPr lang="ru-RU" b="1" dirty="0"/>
              <a:t> НАЗК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E156320-B059-5105-1C38-10B8AAB20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1982"/>
            <a:ext cx="9144000" cy="738981"/>
          </a:xfrm>
        </p:spPr>
        <p:txBody>
          <a:bodyPr/>
          <a:lstStyle/>
          <a:p>
            <a:r>
              <a:rPr lang="en-US" dirty="0"/>
              <a:t>Exploratory Data Analysis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CD2DA-434B-6B67-7C78-5D76799DD0A6}"/>
              </a:ext>
            </a:extLst>
          </p:cNvPr>
          <p:cNvSpPr txBox="1"/>
          <p:nvPr/>
        </p:nvSpPr>
        <p:spPr>
          <a:xfrm>
            <a:off x="6210300" y="5924550"/>
            <a:ext cx="5619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/>
              <a:t>Виконавець: Гудименко Олександр</a:t>
            </a:r>
          </a:p>
        </p:txBody>
      </p:sp>
    </p:spTree>
    <p:extLst>
      <p:ext uri="{BB962C8B-B14F-4D97-AF65-F5344CB8AC3E}">
        <p14:creationId xmlns:p14="http://schemas.microsoft.com/office/powerpoint/2010/main" val="36458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C518D-F677-FF1A-3C77-98DD206C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b="1" dirty="0"/>
              <a:t>Корисні посилання</a:t>
            </a:r>
          </a:p>
        </p:txBody>
      </p:sp>
      <p:sp>
        <p:nvSpPr>
          <p:cNvPr id="4" name="Прямокутник: округлені кути 3">
            <a:hlinkClick r:id="rId2"/>
            <a:extLst>
              <a:ext uri="{FF2B5EF4-FFF2-40B4-BE49-F238E27FC236}">
                <a16:creationId xmlns:a16="http://schemas.microsoft.com/office/drawing/2014/main" id="{64F268BB-F19D-271F-FE7F-8EF16A43ACDB}"/>
              </a:ext>
            </a:extLst>
          </p:cNvPr>
          <p:cNvSpPr/>
          <p:nvPr/>
        </p:nvSpPr>
        <p:spPr>
          <a:xfrm>
            <a:off x="3467100" y="1829792"/>
            <a:ext cx="5257800" cy="73501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 Telegram</a:t>
            </a:r>
            <a:endParaRPr lang="uk-UA" dirty="0"/>
          </a:p>
        </p:txBody>
      </p:sp>
      <p:sp>
        <p:nvSpPr>
          <p:cNvPr id="5" name="Прямокутник: округлені кути 4">
            <a:hlinkClick r:id="rId3"/>
            <a:extLst>
              <a:ext uri="{FF2B5EF4-FFF2-40B4-BE49-F238E27FC236}">
                <a16:creationId xmlns:a16="http://schemas.microsoft.com/office/drawing/2014/main" id="{74B1228B-1AFD-5060-5F24-C13700B045F4}"/>
              </a:ext>
            </a:extLst>
          </p:cNvPr>
          <p:cNvSpPr/>
          <p:nvPr/>
        </p:nvSpPr>
        <p:spPr>
          <a:xfrm>
            <a:off x="3467100" y="2767806"/>
            <a:ext cx="5257800" cy="725091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Проект на </a:t>
            </a:r>
            <a:r>
              <a:rPr lang="en-US" dirty="0"/>
              <a:t>GIT</a:t>
            </a:r>
            <a:endParaRPr lang="uk-UA" dirty="0"/>
          </a:p>
        </p:txBody>
      </p:sp>
      <p:sp>
        <p:nvSpPr>
          <p:cNvPr id="6" name="Прямокутник: округлені кути 5">
            <a:hlinkClick r:id="rId4"/>
            <a:extLst>
              <a:ext uri="{FF2B5EF4-FFF2-40B4-BE49-F238E27FC236}">
                <a16:creationId xmlns:a16="http://schemas.microsoft.com/office/drawing/2014/main" id="{A0D8BA0D-7332-72F0-FC67-EAE578A39191}"/>
              </a:ext>
            </a:extLst>
          </p:cNvPr>
          <p:cNvSpPr/>
          <p:nvPr/>
        </p:nvSpPr>
        <p:spPr>
          <a:xfrm>
            <a:off x="3467100" y="3695899"/>
            <a:ext cx="5257800" cy="71417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NAZK</a:t>
            </a:r>
            <a:endParaRPr lang="uk-UA" dirty="0"/>
          </a:p>
        </p:txBody>
      </p:sp>
      <p:sp>
        <p:nvSpPr>
          <p:cNvPr id="7" name="Прямокутник: округлені кути 6">
            <a:hlinkClick r:id="rId3"/>
            <a:extLst>
              <a:ext uri="{FF2B5EF4-FFF2-40B4-BE49-F238E27FC236}">
                <a16:creationId xmlns:a16="http://schemas.microsoft.com/office/drawing/2014/main" id="{5A06E124-5C14-85CF-9DE8-7291898C3B59}"/>
              </a:ext>
            </a:extLst>
          </p:cNvPr>
          <p:cNvSpPr/>
          <p:nvPr/>
        </p:nvSpPr>
        <p:spPr>
          <a:xfrm>
            <a:off x="3467100" y="4613076"/>
            <a:ext cx="5257800" cy="71417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Jupyter</a:t>
            </a:r>
            <a:r>
              <a:rPr lang="en-US" dirty="0"/>
              <a:t> notebook</a:t>
            </a:r>
            <a:endParaRPr lang="uk-UA" dirty="0"/>
          </a:p>
        </p:txBody>
      </p:sp>
      <p:sp>
        <p:nvSpPr>
          <p:cNvPr id="3" name="Прямокутник: округлені кути 2">
            <a:hlinkClick r:id="rId5" action="ppaction://hlinksldjump"/>
            <a:extLst>
              <a:ext uri="{FF2B5EF4-FFF2-40B4-BE49-F238E27FC236}">
                <a16:creationId xmlns:a16="http://schemas.microsoft.com/office/drawing/2014/main" id="{C957C2AD-A84B-DEF6-CD44-88E3A55F95FF}"/>
              </a:ext>
            </a:extLst>
          </p:cNvPr>
          <p:cNvSpPr/>
          <p:nvPr/>
        </p:nvSpPr>
        <p:spPr>
          <a:xfrm>
            <a:off x="6924676" y="1962298"/>
            <a:ext cx="1714500" cy="42158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dirty="0"/>
              <a:t>Результати </a:t>
            </a:r>
            <a:r>
              <a:rPr lang="en-US" sz="1100" dirty="0"/>
              <a:t>AI </a:t>
            </a:r>
            <a:r>
              <a:rPr lang="uk-UA" sz="1100" dirty="0"/>
              <a:t>аналізу</a:t>
            </a:r>
          </a:p>
        </p:txBody>
      </p:sp>
    </p:spTree>
    <p:extLst>
      <p:ext uri="{BB962C8B-B14F-4D97-AF65-F5344CB8AC3E}">
        <p14:creationId xmlns:p14="http://schemas.microsoft.com/office/powerpoint/2010/main" val="97506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3049A-8D87-C40E-806E-297A24A6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Мета </a:t>
            </a:r>
            <a:r>
              <a:rPr lang="ru-RU" dirty="0" err="1"/>
              <a:t>роботи</a:t>
            </a:r>
            <a:r>
              <a:rPr lang="ru-RU" dirty="0"/>
              <a:t> та </a:t>
            </a:r>
            <a:r>
              <a:rPr lang="ru-RU" dirty="0" err="1"/>
              <a:t>джерело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9A1DD35-509E-4E29-60EA-0051C7E92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6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uk-UA" b="1" dirty="0"/>
              <a:t>Мета: </a:t>
            </a:r>
            <a:r>
              <a:rPr lang="uk-UA" dirty="0"/>
              <a:t>оцінити структуру та якість даних, розподіли за типами покарань, регіонами, часом.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b="1" dirty="0"/>
              <a:t>Джерело: </a:t>
            </a:r>
            <a:r>
              <a:rPr lang="uk-UA" dirty="0" err="1"/>
              <a:t>дамп</a:t>
            </a:r>
            <a:r>
              <a:rPr lang="uk-UA" dirty="0"/>
              <a:t> </a:t>
            </a:r>
            <a:r>
              <a:rPr lang="en-US" dirty="0" err="1"/>
              <a:t>corrupt_all_data.json</a:t>
            </a:r>
            <a:r>
              <a:rPr lang="en-US" dirty="0"/>
              <a:t> (API </a:t>
            </a:r>
            <a:r>
              <a:rPr lang="uk-UA" dirty="0"/>
              <a:t>НАЗК).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b="1" dirty="0"/>
              <a:t>Обсяг: </a:t>
            </a:r>
            <a:r>
              <a:rPr lang="uk-UA" dirty="0"/>
              <a:t>28 713 записів, 29 полів.</a:t>
            </a:r>
          </a:p>
        </p:txBody>
      </p:sp>
    </p:spTree>
    <p:extLst>
      <p:ext uri="{BB962C8B-B14F-4D97-AF65-F5344CB8AC3E}">
        <p14:creationId xmlns:p14="http://schemas.microsoft.com/office/powerpoint/2010/main" val="23261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CCECA-F907-D834-C73B-1E1D0194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містить реєстр?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75293B-CE45-D1D9-6847-DF38544B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ПІБ, тип суб’єкта (</a:t>
            </a:r>
            <a:r>
              <a:rPr lang="uk-UA" dirty="0" err="1"/>
              <a:t>фіз</a:t>
            </a:r>
            <a:r>
              <a:rPr lang="uk-UA" dirty="0"/>
              <a:t>/</a:t>
            </a:r>
            <a:r>
              <a:rPr lang="uk-UA" dirty="0" err="1"/>
              <a:t>юр</a:t>
            </a:r>
            <a:r>
              <a:rPr lang="uk-UA" dirty="0"/>
              <a:t> особа).</a:t>
            </a:r>
          </a:p>
          <a:p>
            <a:r>
              <a:rPr lang="uk-UA" dirty="0"/>
              <a:t>Правопорушення (</a:t>
            </a:r>
            <a:r>
              <a:rPr lang="en-US" dirty="0" err="1"/>
              <a:t>offenseName</a:t>
            </a:r>
            <a:r>
              <a:rPr lang="en-US" dirty="0"/>
              <a:t>, </a:t>
            </a:r>
            <a:r>
              <a:rPr lang="en-US" dirty="0" err="1"/>
              <a:t>offenseId</a:t>
            </a:r>
            <a:r>
              <a:rPr lang="en-US" dirty="0"/>
              <a:t>), </a:t>
            </a:r>
            <a:r>
              <a:rPr lang="uk-UA" dirty="0"/>
              <a:t>статті кодексу.</a:t>
            </a:r>
          </a:p>
          <a:p>
            <a:r>
              <a:rPr lang="uk-UA" dirty="0"/>
              <a:t>Покарання (текст, тип, дати </a:t>
            </a:r>
            <a:r>
              <a:rPr lang="uk-UA" dirty="0" err="1"/>
              <a:t>вироку</a:t>
            </a:r>
            <a:r>
              <a:rPr lang="uk-UA" dirty="0"/>
              <a:t>/постанови).</a:t>
            </a:r>
          </a:p>
          <a:p>
            <a:r>
              <a:rPr lang="uk-UA" dirty="0"/>
              <a:t>Суд (</a:t>
            </a:r>
            <a:r>
              <a:rPr lang="en-US" dirty="0" err="1"/>
              <a:t>courtName</a:t>
            </a:r>
            <a:r>
              <a:rPr lang="en-US" dirty="0"/>
              <a:t>, </a:t>
            </a:r>
            <a:r>
              <a:rPr lang="en-US" dirty="0" err="1"/>
              <a:t>courtId</a:t>
            </a:r>
            <a:r>
              <a:rPr lang="en-US" dirty="0"/>
              <a:t>).</a:t>
            </a:r>
          </a:p>
          <a:p>
            <a:r>
              <a:rPr lang="uk-UA" dirty="0"/>
              <a:t>Постанови НАЗК (</a:t>
            </a:r>
            <a:r>
              <a:rPr lang="en-US" dirty="0" err="1"/>
              <a:t>decreeDate</a:t>
            </a:r>
            <a:r>
              <a:rPr lang="en-US" dirty="0"/>
              <a:t>, </a:t>
            </a:r>
            <a:r>
              <a:rPr lang="en-US" dirty="0" err="1"/>
              <a:t>decreeNumber</a:t>
            </a:r>
            <a:r>
              <a:rPr lang="en-US" dirty="0"/>
              <a:t>).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964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890CA-6A71-C2C5-B47A-872190F7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Заповненість</a:t>
            </a:r>
            <a:r>
              <a:rPr lang="uk-UA" dirty="0"/>
              <a:t> ключових полів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A9C682-2A6F-E19E-D50E-0FA87DCAB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8985"/>
            <a:ext cx="72294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2200" dirty="0"/>
              <a:t>Усього записів: 28 713</a:t>
            </a:r>
          </a:p>
          <a:p>
            <a:pPr marL="0" indent="0">
              <a:buNone/>
            </a:pPr>
            <a:endParaRPr lang="uk-UA" sz="2200" dirty="0"/>
          </a:p>
          <a:p>
            <a:pPr marL="0" indent="0">
              <a:buNone/>
            </a:pPr>
            <a:r>
              <a:rPr lang="uk-UA" sz="2200" dirty="0"/>
              <a:t>Текст покарання (</a:t>
            </a:r>
            <a:r>
              <a:rPr lang="en-US" sz="2200" dirty="0"/>
              <a:t>punishment): 28</a:t>
            </a:r>
            <a:r>
              <a:rPr lang="uk-UA" sz="2200" dirty="0"/>
              <a:t> </a:t>
            </a:r>
            <a:r>
              <a:rPr lang="en-US" sz="2200" dirty="0"/>
              <a:t>713</a:t>
            </a:r>
            <a:r>
              <a:rPr lang="uk-UA" sz="2200" dirty="0"/>
              <a:t> </a:t>
            </a:r>
            <a:r>
              <a:rPr lang="en-US" sz="2200" dirty="0"/>
              <a:t>(100%)</a:t>
            </a:r>
            <a:endParaRPr lang="uk-UA" sz="2200" dirty="0"/>
          </a:p>
          <a:p>
            <a:pPr marL="0" indent="0">
              <a:buNone/>
            </a:pPr>
            <a:endParaRPr lang="uk-UA" sz="2200" dirty="0"/>
          </a:p>
          <a:p>
            <a:pPr marL="0" indent="0">
              <a:buNone/>
            </a:pPr>
            <a:r>
              <a:rPr lang="uk-UA" sz="2200" dirty="0"/>
              <a:t>Назва суду (</a:t>
            </a:r>
            <a:r>
              <a:rPr lang="en-US" sz="2200" dirty="0" err="1"/>
              <a:t>courtName</a:t>
            </a:r>
            <a:r>
              <a:rPr lang="en-US" sz="2200" dirty="0"/>
              <a:t>): 25</a:t>
            </a:r>
            <a:r>
              <a:rPr lang="uk-UA" sz="2200" dirty="0"/>
              <a:t> </a:t>
            </a:r>
            <a:r>
              <a:rPr lang="en-US" sz="2200" dirty="0"/>
              <a:t>767 (89.7%)</a:t>
            </a:r>
            <a:endParaRPr lang="uk-UA" sz="2200" dirty="0"/>
          </a:p>
          <a:p>
            <a:pPr marL="0" indent="0">
              <a:buNone/>
            </a:pPr>
            <a:endParaRPr lang="uk-UA" sz="2200" dirty="0"/>
          </a:p>
          <a:p>
            <a:pPr marL="0" indent="0">
              <a:buNone/>
            </a:pPr>
            <a:r>
              <a:rPr lang="uk-UA" sz="2200" dirty="0"/>
              <a:t>Дата </a:t>
            </a:r>
            <a:r>
              <a:rPr lang="uk-UA" sz="2200" dirty="0" err="1"/>
              <a:t>вироку</a:t>
            </a:r>
            <a:r>
              <a:rPr lang="uk-UA" sz="2200" dirty="0"/>
              <a:t> (</a:t>
            </a:r>
            <a:r>
              <a:rPr lang="en-US" sz="2200" dirty="0" err="1"/>
              <a:t>sentenceDate</a:t>
            </a:r>
            <a:r>
              <a:rPr lang="en-US" sz="2200" dirty="0"/>
              <a:t>): 25</a:t>
            </a:r>
            <a:r>
              <a:rPr lang="uk-UA" sz="2200" dirty="0"/>
              <a:t> </a:t>
            </a:r>
            <a:r>
              <a:rPr lang="en-US" sz="2200" dirty="0"/>
              <a:t>769 (89.7%)</a:t>
            </a:r>
            <a:endParaRPr lang="uk-UA" sz="2200" dirty="0"/>
          </a:p>
          <a:p>
            <a:pPr marL="0" indent="0">
              <a:buNone/>
            </a:pPr>
            <a:endParaRPr lang="uk-UA" sz="2200" dirty="0"/>
          </a:p>
          <a:p>
            <a:pPr marL="0" indent="0">
              <a:buNone/>
            </a:pPr>
            <a:r>
              <a:rPr lang="uk-UA" sz="2200" dirty="0"/>
              <a:t>Назва правопорушення (</a:t>
            </a:r>
            <a:r>
              <a:rPr lang="en-US" sz="2200" dirty="0" err="1"/>
              <a:t>offenseName</a:t>
            </a:r>
            <a:r>
              <a:rPr lang="en-US" sz="2200" dirty="0"/>
              <a:t>): 28</a:t>
            </a:r>
            <a:r>
              <a:rPr lang="uk-UA" sz="2200" dirty="0"/>
              <a:t> </a:t>
            </a:r>
            <a:r>
              <a:rPr lang="en-US" sz="2200" dirty="0"/>
              <a:t>707 (100%)</a:t>
            </a:r>
            <a:endParaRPr lang="uk-UA" sz="2200" dirty="0"/>
          </a:p>
          <a:p>
            <a:pPr marL="0" indent="0">
              <a:buNone/>
            </a:pPr>
            <a:endParaRPr lang="uk-UA" sz="2200" dirty="0"/>
          </a:p>
          <a:p>
            <a:pPr marL="0" indent="0">
              <a:buNone/>
            </a:pPr>
            <a:r>
              <a:rPr lang="uk-UA" sz="2200" dirty="0"/>
              <a:t>ПІБ (</a:t>
            </a:r>
            <a:r>
              <a:rPr lang="en-US" sz="2200" dirty="0" err="1"/>
              <a:t>full_name</a:t>
            </a:r>
            <a:r>
              <a:rPr lang="en-US" sz="2200" dirty="0"/>
              <a:t>): 28</a:t>
            </a:r>
            <a:r>
              <a:rPr lang="uk-UA" sz="2200" dirty="0"/>
              <a:t> </a:t>
            </a:r>
            <a:r>
              <a:rPr lang="en-US" sz="2200" dirty="0"/>
              <a:t>698 (99.9%)</a:t>
            </a:r>
            <a:endParaRPr lang="uk-UA" sz="2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292572-C2C4-AD81-DB63-D8379816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5" y="1688985"/>
            <a:ext cx="3490989" cy="427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8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1C8B6-DA0D-338D-CDB9-2E05A83C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в </a:t>
            </a:r>
            <a:r>
              <a:rPr lang="ru-RU" dirty="0" err="1"/>
              <a:t>реєстрі</a:t>
            </a:r>
            <a:r>
              <a:rPr lang="ru-RU" dirty="0"/>
              <a:t>: </a:t>
            </a:r>
            <a:r>
              <a:rPr lang="ru-RU" dirty="0" err="1"/>
              <a:t>фізичні</a:t>
            </a:r>
            <a:r>
              <a:rPr lang="ru-RU" dirty="0"/>
              <a:t> та </a:t>
            </a:r>
            <a:r>
              <a:rPr lang="ru-RU" dirty="0" err="1"/>
              <a:t>юридичні</a:t>
            </a:r>
            <a:r>
              <a:rPr lang="ru-RU" dirty="0"/>
              <a:t> особи?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258A6A-B227-A212-1833-F228CFC40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715666" cy="4430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BCD19-DD1D-798C-842D-3B197BC81905}"/>
              </a:ext>
            </a:extLst>
          </p:cNvPr>
          <p:cNvSpPr txBox="1"/>
          <p:nvPr/>
        </p:nvSpPr>
        <p:spPr>
          <a:xfrm>
            <a:off x="7848600" y="2828835"/>
            <a:ext cx="3867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dirty="0"/>
              <a:t>Реєстр складається із справ фізичних осіб. Випадок із 1 юридичною особою розглядається як виключення</a:t>
            </a:r>
          </a:p>
        </p:txBody>
      </p:sp>
    </p:spTree>
    <p:extLst>
      <p:ext uri="{BB962C8B-B14F-4D97-AF65-F5344CB8AC3E}">
        <p14:creationId xmlns:p14="http://schemas.microsoft.com/office/powerpoint/2010/main" val="416700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9FCDC-747A-77AD-0E7A-533CB9B9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Розподіл за видами покарання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40EF6E-4778-164E-03AA-7E43D8BD1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556760"/>
            <a:ext cx="9848849" cy="486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9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9FCDC-747A-77AD-0E7A-533CB9B9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Розподіл за видами покарання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040BE9F-5EDF-3E7F-F9B5-B6351B505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74" y="1690688"/>
            <a:ext cx="5422638" cy="44534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FE34F5-8BE1-9F77-0202-668ADB93E6BD}"/>
              </a:ext>
            </a:extLst>
          </p:cNvPr>
          <p:cNvSpPr txBox="1"/>
          <p:nvPr/>
        </p:nvSpPr>
        <p:spPr>
          <a:xfrm>
            <a:off x="565488" y="2242999"/>
            <a:ext cx="49018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dirty="0"/>
              <a:t>Основним видом покарання являється Штраф. Його доля складає 56,5% від загальної кількості всіх справ реєстру.</a:t>
            </a:r>
          </a:p>
          <a:p>
            <a:pPr algn="just"/>
            <a:endParaRPr lang="uk-UA" dirty="0"/>
          </a:p>
          <a:p>
            <a:pPr algn="just"/>
            <a:r>
              <a:rPr lang="uk-UA" dirty="0"/>
              <a:t>На другому місці знаходяться випадки без зазначеного виду покарання, але із вказаною датою початку дії </a:t>
            </a:r>
            <a:r>
              <a:rPr lang="uk-UA" dirty="0" err="1"/>
              <a:t>вироку</a:t>
            </a:r>
            <a:r>
              <a:rPr lang="uk-UA" dirty="0"/>
              <a:t> із долею 13,7%</a:t>
            </a:r>
          </a:p>
          <a:p>
            <a:pPr algn="just"/>
            <a:endParaRPr lang="uk-UA" dirty="0"/>
          </a:p>
          <a:p>
            <a:pPr algn="just"/>
            <a:r>
              <a:rPr lang="uk-UA" dirty="0"/>
              <a:t>На третьому – позбавлення волі із долею 13,1%</a:t>
            </a:r>
          </a:p>
        </p:txBody>
      </p:sp>
    </p:spTree>
    <p:extLst>
      <p:ext uri="{BB962C8B-B14F-4D97-AF65-F5344CB8AC3E}">
        <p14:creationId xmlns:p14="http://schemas.microsoft.com/office/powerpoint/2010/main" val="339103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D7109-26C6-D14E-4E55-BFD9660D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Найчастіші статті кодексу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8B705-B306-FD93-981D-5846959BD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06" y="1357314"/>
            <a:ext cx="11025188" cy="3482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08627-C1F8-5337-698A-C474B53840FC}"/>
              </a:ext>
            </a:extLst>
          </p:cNvPr>
          <p:cNvSpPr txBox="1"/>
          <p:nvPr/>
        </p:nvSpPr>
        <p:spPr>
          <a:xfrm>
            <a:off x="336888" y="4742407"/>
            <a:ext cx="63020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1600" dirty="0"/>
              <a:t>Найчастіше фігурують статті пропозиція та прийняття пропозиції, обіцянки або надання/одержання неправомірної вигоди службовою особою.</a:t>
            </a:r>
          </a:p>
          <a:p>
            <a:pPr algn="just"/>
            <a:endParaRPr lang="uk-UA" sz="1600" dirty="0"/>
          </a:p>
          <a:p>
            <a:pPr algn="just"/>
            <a:r>
              <a:rPr lang="uk-UA" sz="1600" dirty="0"/>
              <a:t>Крім того часто зустрічається порушення вимог фінансового контролю. Трохи рідше привласнення, розтрата майна або заволодіння ним шляхом зловживання службовим становищем.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A4F16B-7CDF-31EE-FA3B-990609ED2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49" y="4947374"/>
            <a:ext cx="4731545" cy="16004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Найпоширеніша корупція </a:t>
            </a:r>
            <a:r>
              <a:rPr lang="uk-UA" altLang="uk-UA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kumimoji="0" lang="uk-UA" altLang="uk-UA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хабарництво.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фінансового декларування активно генерує справи.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Складні економічні злочини трапляються рідше в реєстрі, бо їх важче довести.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Судова статистика більше відображає масову дрібну корупцію, ніж великі схеми.</a:t>
            </a:r>
          </a:p>
        </p:txBody>
      </p:sp>
      <p:sp>
        <p:nvSpPr>
          <p:cNvPr id="6" name="Кнопка дії: довідка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D242AAF-6348-47D3-AF9A-C017E93A71E9}"/>
              </a:ext>
            </a:extLst>
          </p:cNvPr>
          <p:cNvSpPr/>
          <p:nvPr/>
        </p:nvSpPr>
        <p:spPr>
          <a:xfrm>
            <a:off x="11353800" y="4947375"/>
            <a:ext cx="254794" cy="254794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496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A9976-3BAC-7880-A7F3-793A2B03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72"/>
            <a:ext cx="10515600" cy="1325563"/>
          </a:xfrm>
        </p:spPr>
        <p:txBody>
          <a:bodyPr/>
          <a:lstStyle/>
          <a:p>
            <a:r>
              <a:rPr lang="uk-UA" dirty="0"/>
              <a:t>Розподіл за регіонами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53AAD1-B8D6-5B70-A4DD-A9EAC9F3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3" y="1371795"/>
            <a:ext cx="6201145" cy="511641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5ABCF9-7FBB-F1B1-414B-90AF28D1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480" y="3124850"/>
            <a:ext cx="4408827" cy="3581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B895FC-E58F-CBBE-B315-C008061B0770}"/>
              </a:ext>
            </a:extLst>
          </p:cNvPr>
          <p:cNvSpPr txBox="1"/>
          <p:nvPr/>
        </p:nvSpPr>
        <p:spPr>
          <a:xfrm>
            <a:off x="7039345" y="1124340"/>
            <a:ext cx="492345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200" b="1" dirty="0"/>
              <a:t>Місце правопорушення ≠ Місце розгляду справи</a:t>
            </a:r>
          </a:p>
          <a:p>
            <a:r>
              <a:rPr lang="uk-UA" sz="1200" b="1" dirty="0"/>
              <a:t>Кількість справ ≠ Рівень корупції</a:t>
            </a:r>
          </a:p>
          <a:p>
            <a:r>
              <a:rPr lang="uk-UA" sz="1200" dirty="0"/>
              <a:t>Дані відображають роботу системи правосуддя по областях, а не рівень корупції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uk-UA" altLang="uk-UA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Найбільше корупційних справ фіксується у великих адміністративних та економічних регіонах.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uk-UA" altLang="uk-UA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Київський регіон найбільший центр корупційних проваджень.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uk-UA" altLang="uk-UA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Частина менших областей має непропорційно високу частку справ, що може вказувати на активніші розслідування.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uk-UA" altLang="uk-UA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10% справ без географії - важливе обмеження </a:t>
            </a:r>
            <a:r>
              <a:rPr kumimoji="0" lang="uk-UA" altLang="uk-UA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датасету</a:t>
            </a:r>
            <a:r>
              <a:rPr kumimoji="0" lang="uk-UA" altLang="uk-UA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uk-UA" sz="1200" dirty="0"/>
          </a:p>
          <a:p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598815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8039B-DC35-47F1-2A96-35A53C77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Динаміка кількості рішень (2010–2026)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35F5B9-70C9-D44E-6573-6FCF559D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1510605"/>
            <a:ext cx="840222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69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AB1CD-3C3C-0D6D-9C04-F84E4BF1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Динаміка кількості рішень по роках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767EB3-95D5-5F24-A2A0-A8F7E4087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9"/>
          <a:stretch/>
        </p:blipFill>
        <p:spPr>
          <a:xfrm>
            <a:off x="966071" y="1943100"/>
            <a:ext cx="10259857" cy="47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07277-AFF0-AEA6-2721-2BE25099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Зв’язок</a:t>
            </a:r>
            <a:r>
              <a:rPr lang="ru-RU" dirty="0"/>
              <a:t> </a:t>
            </a:r>
            <a:r>
              <a:rPr lang="ru-RU" dirty="0" err="1"/>
              <a:t>регіону</a:t>
            </a:r>
            <a:r>
              <a:rPr lang="ru-RU" dirty="0"/>
              <a:t> та виду </a:t>
            </a:r>
            <a:r>
              <a:rPr lang="ru-RU" dirty="0" err="1"/>
              <a:t>покарання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0648C8-3CBC-71CE-99CB-99C318FF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1491195"/>
            <a:ext cx="7549813" cy="516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1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B2B9B-837B-354E-7F57-286BFB1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висновки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DA3EC-0CF0-7DBA-EA3A-59D070357954}"/>
              </a:ext>
            </a:extLst>
          </p:cNvPr>
          <p:cNvSpPr txBox="1"/>
          <p:nvPr/>
        </p:nvSpPr>
        <p:spPr>
          <a:xfrm>
            <a:off x="666750" y="1690688"/>
            <a:ext cx="106870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Реєстр судових рішень формує достатньо велику вибірку для аналізу типів рішень, видів санкцій, регіонального розподілу та часової динаміки корупційних справ.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Якість даних є достатньою для агрегованого аналізу типів рішень, санкцій і регіонів. Водночас для більш деталізованого аналізу (конкретні органи влади, адреси, установи) існує значна частка пропущених значень, що обмежує точність висновків.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Переважна частка записів у вибірці стосується судових рішень у корупційних справах, тоді як дисциплінарні стягнення формують меншу, але помітну частку.</a:t>
            </a:r>
          </a:p>
          <a:p>
            <a:pPr marL="342900" indent="-342900" algn="just" rtl="0">
              <a:buFont typeface="+mj-lt"/>
              <a:buAutoNum type="arabicPeriod"/>
            </a:pPr>
            <a:r>
              <a:rPr lang="uk-UA" sz="1600" dirty="0"/>
              <a:t>Згідно статистики рейтингу основних статей,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припущення</a:t>
            </a:r>
            <a:r>
              <a:rPr lang="ru-RU" sz="1600" dirty="0"/>
              <a:t> про </a:t>
            </a:r>
            <a:r>
              <a:rPr lang="ru-RU" sz="1600" dirty="0" err="1"/>
              <a:t>домінування</a:t>
            </a:r>
            <a:r>
              <a:rPr lang="ru-RU" sz="1600" dirty="0"/>
              <a:t> </a:t>
            </a:r>
            <a:r>
              <a:rPr lang="ru-RU" sz="1600" dirty="0" err="1"/>
              <a:t>транзакційних</a:t>
            </a:r>
            <a:r>
              <a:rPr lang="ru-RU" sz="1600" dirty="0"/>
              <a:t> форм </a:t>
            </a:r>
            <a:r>
              <a:rPr lang="ru-RU" sz="1600" dirty="0" err="1"/>
              <a:t>корупції</a:t>
            </a:r>
            <a:r>
              <a:rPr lang="ru-RU" sz="1600" dirty="0"/>
              <a:t> та </a:t>
            </a:r>
            <a:r>
              <a:rPr lang="ru-RU" sz="1600" dirty="0" err="1"/>
              <a:t>процедурних</a:t>
            </a:r>
            <a:r>
              <a:rPr lang="ru-RU" sz="1600" dirty="0"/>
              <a:t> </a:t>
            </a:r>
            <a:r>
              <a:rPr lang="ru-RU" sz="1600" dirty="0" err="1"/>
              <a:t>порушень</a:t>
            </a:r>
            <a:r>
              <a:rPr lang="ru-RU" sz="1600" dirty="0"/>
              <a:t> у </a:t>
            </a:r>
            <a:r>
              <a:rPr lang="ru-RU" sz="1600" dirty="0" err="1"/>
              <a:t>сфері</a:t>
            </a:r>
            <a:r>
              <a:rPr lang="ru-RU" sz="1600" dirty="0"/>
              <a:t> </a:t>
            </a:r>
            <a:r>
              <a:rPr lang="ru-RU" sz="1600" dirty="0" err="1"/>
              <a:t>декларування</a:t>
            </a:r>
            <a:r>
              <a:rPr lang="ru-RU" sz="1600" dirty="0"/>
              <a:t>.</a:t>
            </a:r>
            <a:r>
              <a:rPr lang="uk-UA" sz="1600" dirty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Спостерігається помітна регіональна нерівномірність у кількості справ. Частина областей має значно більшу кількість записів у реєстрі. Це може бути пов’язано як з різною інтенсивністю корупційних практик, так і з відмінностями у роботі правоохоронних органів, судів або щільності населення.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Аналіз динаміки за роками демонструє періоди зростання та зниження кількості рішень. Такі зміни можуть бути пов’язані із законодавчими реформами, змінами у практиці антикорупційних органів (зокрема НАЗК), а також з повнотою наповнення реєстру.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uk-UA" sz="1600" dirty="0"/>
              <a:t>Аналіз розподілу санкцій за регіонами дозволяє виявити відмінності у практиці застосування покарань. У деяких областях може спостерігатися більша частка штрафів або дисциплінарних стягнень, що може відображати особливості судової практики або структуру правопорушень.</a:t>
            </a:r>
          </a:p>
        </p:txBody>
      </p:sp>
    </p:spTree>
    <p:extLst>
      <p:ext uri="{BB962C8B-B14F-4D97-AF65-F5344CB8AC3E}">
        <p14:creationId xmlns:p14="http://schemas.microsoft.com/office/powerpoint/2010/main" val="91380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48C00A-9817-851A-165B-375EB6898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3" y="223511"/>
            <a:ext cx="3657927" cy="2505531"/>
          </a:xfrm>
          <a:prstGeom prst="rect">
            <a:avLst/>
          </a:prstGeom>
          <a:ln>
            <a:noFill/>
          </a:ln>
          <a:effectLst>
            <a:glow rad="139700">
              <a:srgbClr val="FF0000">
                <a:alpha val="40000"/>
              </a:srgbClr>
            </a:glo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B16F7-CCAB-5D96-D6FC-0B6F274AA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747" y="186252"/>
            <a:ext cx="3610040" cy="2505531"/>
          </a:xfrm>
          <a:prstGeom prst="rect">
            <a:avLst/>
          </a:prstGeom>
          <a:ln>
            <a:noFill/>
          </a:ln>
          <a:effectLst>
            <a:glow rad="139700">
              <a:srgbClr val="FF0000">
                <a:alpha val="40000"/>
              </a:srgbClr>
            </a:glo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E1D65A-ACE9-14F4-FF8C-73D6E650B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98" y="2961826"/>
            <a:ext cx="4022038" cy="2505531"/>
          </a:xfrm>
          <a:prstGeom prst="rect">
            <a:avLst/>
          </a:prstGeom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4AFDDC-A0CE-3BAB-C5FC-E8219A34B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334" y="186252"/>
            <a:ext cx="4165025" cy="2453021"/>
          </a:xfrm>
          <a:prstGeom prst="rect">
            <a:avLst/>
          </a:prstGeom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6AF3811-F84D-2923-3A4B-C669EB408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450" y="2999083"/>
            <a:ext cx="4165026" cy="2431015"/>
          </a:xfrm>
          <a:prstGeom prst="rect">
            <a:avLst/>
          </a:prstGeom>
          <a:ln>
            <a:noFill/>
          </a:ln>
          <a:effectLst>
            <a:glow rad="139700">
              <a:srgbClr val="FF0000">
                <a:alpha val="40000"/>
              </a:srgbClr>
            </a:glo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2C3DC1F-280E-25F9-F994-D00B3C3C2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9334" y="5329722"/>
            <a:ext cx="4084066" cy="1342026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2" name="Стрілка: вліво 1">
            <a:hlinkClick r:id="rId8" action="ppaction://hlinksldjump"/>
            <a:extLst>
              <a:ext uri="{FF2B5EF4-FFF2-40B4-BE49-F238E27FC236}">
                <a16:creationId xmlns:a16="http://schemas.microsoft.com/office/drawing/2014/main" id="{5CEB9217-47C5-4F33-75C6-FDEA98CE45DD}"/>
              </a:ext>
            </a:extLst>
          </p:cNvPr>
          <p:cNvSpPr/>
          <p:nvPr/>
        </p:nvSpPr>
        <p:spPr>
          <a:xfrm>
            <a:off x="258092" y="6010275"/>
            <a:ext cx="1952625" cy="6614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Повернутись</a:t>
            </a:r>
          </a:p>
        </p:txBody>
      </p:sp>
    </p:spTree>
    <p:extLst>
      <p:ext uri="{BB962C8B-B14F-4D97-AF65-F5344CB8AC3E}">
        <p14:creationId xmlns:p14="http://schemas.microsoft.com/office/powerpoint/2010/main" val="32872724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648</Words>
  <Application>Microsoft Office PowerPoint</Application>
  <PresentationFormat>Широкий екран</PresentationFormat>
  <Paragraphs>70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Аналіз реєстру корупційних правопорушень НАЗК</vt:lpstr>
      <vt:lpstr>Корисні посилання</vt:lpstr>
      <vt:lpstr>Мета роботи та джерело даних</vt:lpstr>
      <vt:lpstr>Що містить реєстр?</vt:lpstr>
      <vt:lpstr>Заповненість ключових полів</vt:lpstr>
      <vt:lpstr>Хто в реєстрі: фізичні та юридичні особи?</vt:lpstr>
      <vt:lpstr>Розподіл за видами покарання</vt:lpstr>
      <vt:lpstr>Розподіл за видами покарання</vt:lpstr>
      <vt:lpstr>Найчастіші статті кодексу</vt:lpstr>
      <vt:lpstr>Розподіл за регіонами</vt:lpstr>
      <vt:lpstr>Динаміка кількості рішень (2010–2026)</vt:lpstr>
      <vt:lpstr>Динаміка кількості рішень по роках</vt:lpstr>
      <vt:lpstr>Зв’язок регіону та виду покарання</vt:lpstr>
      <vt:lpstr>Основні висновки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 Гудименко</dc:creator>
  <cp:lastModifiedBy>Олександр Гудименко</cp:lastModifiedBy>
  <cp:revision>12</cp:revision>
  <dcterms:created xsi:type="dcterms:W3CDTF">2026-03-14T00:02:24Z</dcterms:created>
  <dcterms:modified xsi:type="dcterms:W3CDTF">2026-03-14T12:46:35Z</dcterms:modified>
</cp:coreProperties>
</file>